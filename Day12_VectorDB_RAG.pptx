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</p:sldIdLst>
  <p:notesMasterIdLst>
    <p:notesMasterId r:id="rId3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3840480" cy="38404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4937760"/>
            <a:ext cx="3291840" cy="329184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371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12 · GENERATIVE AI PHASE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828800"/>
            <a:ext cx="96012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Vector Databases</a:t>
            </a:r>
            <a:endParaRPr lang="en-US" sz="38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&amp; Retrieval-Augmented Generation</a:t>
            </a:r>
            <a:endParaRPr lang="en-US" sz="38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611880"/>
            <a:ext cx="8961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Giving an LLM a memory of your own data — accurately, and with citations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41248" y="4251960"/>
            <a:ext cx="822960" cy="0"/>
          </a:xfrm>
          <a:prstGeom prst="line">
            <a:avLst/>
          </a:prstGeom>
          <a:noFill/>
          <a:ln w="38100">
            <a:solidFill>
              <a:srgbClr val="1C729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45262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IAHV AI Engineering Bootcamp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482803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Trainer: Gautham V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41148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Today's Roadmap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9601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blocks — from what a vector database is, to shipping a working RAG pipeline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02920" y="1600200"/>
            <a:ext cx="11183112" cy="713232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 w="12700">
            <a:solidFill>
              <a:srgbClr val="E3E7EE"/>
            </a:solidFill>
            <a:prstDash val="solid"/>
          </a:ln>
          <a:effectLst>
            <a:outerShdw sx="100000" sy="100000" kx="0" ky="0" algn="bl" rotWithShape="0" blurRad="76200" dist="25400" dir="5400000">
              <a:srgbClr val="1F243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700784"/>
            <a:ext cx="512064" cy="512064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170078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1508760" y="1600200"/>
            <a:ext cx="9966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Database Fundamentals</a:t>
            </a:r>
            <a:pPr indent="0" marL="0">
              <a:buNone/>
            </a:pPr>
            <a:r>
              <a:rPr lang="en-US" sz="14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</a:t>
            </a:r>
            <a:pPr indent="0" marL="0">
              <a:buNone/>
            </a:pPr>
            <a:r>
              <a:rPr lang="en-US" sz="14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vector databases are, how similarity search works, and the core concepts underneath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02920" y="2441448"/>
            <a:ext cx="11183112" cy="713232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 w="12700">
            <a:solidFill>
              <a:srgbClr val="E3E7EE"/>
            </a:solidFill>
            <a:prstDash val="solid"/>
          </a:ln>
          <a:effectLst>
            <a:outerShdw sx="100000" sy="100000" kx="0" ky="0" algn="bl" rotWithShape="0" blurRad="76200" dist="25400" dir="5400000">
              <a:srgbClr val="1F243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77240" y="2542032"/>
            <a:ext cx="512064" cy="512064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77240" y="254203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1508760" y="2441448"/>
            <a:ext cx="9966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DB Tools</a:t>
            </a:r>
            <a:pPr indent="0" marL="0">
              <a:buNone/>
            </a:pPr>
            <a:r>
              <a:rPr lang="en-US" sz="14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</a:t>
            </a:r>
            <a:pPr indent="0" marL="0">
              <a:buNone/>
            </a:pPr>
            <a:r>
              <a:rPr lang="en-US" sz="14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FAISS, Annoy, and ChromaDB — the open-source landscape, and how to choose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502920" y="3282696"/>
            <a:ext cx="11183112" cy="713232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 w="12700">
            <a:solidFill>
              <a:srgbClr val="E3E7EE"/>
            </a:solidFill>
            <a:prstDash val="solid"/>
          </a:ln>
          <a:effectLst>
            <a:outerShdw sx="100000" sy="100000" kx="0" ky="0" algn="bl" rotWithShape="0" blurRad="76200" dist="25400" dir="5400000">
              <a:srgbClr val="1F243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77240" y="3383280"/>
            <a:ext cx="512064" cy="512064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77240" y="338328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1508760" y="3282696"/>
            <a:ext cx="9966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RAG</a:t>
            </a:r>
            <a:pPr indent="0" marL="0">
              <a:buNone/>
            </a:pPr>
            <a:r>
              <a:rPr lang="en-US" sz="14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</a:t>
            </a:r>
            <a:pPr indent="0" marL="0">
              <a:buNone/>
            </a:pPr>
            <a:r>
              <a:rPr lang="en-US" sz="14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RAG is, why it matters, and where it's already deployed in industry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502920" y="4123944"/>
            <a:ext cx="11183112" cy="713232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 w="12700">
            <a:solidFill>
              <a:srgbClr val="E3E7EE"/>
            </a:solidFill>
            <a:prstDash val="solid"/>
          </a:ln>
          <a:effectLst>
            <a:outerShdw sx="100000" sy="100000" kx="0" ky="0" algn="bl" rotWithShape="0" blurRad="76200" dist="25400" dir="5400000">
              <a:srgbClr val="1F243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77240" y="4224528"/>
            <a:ext cx="512064" cy="512064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77240" y="422452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19" name="Text 17"/>
          <p:cNvSpPr txBox="1"/>
          <p:nvPr/>
        </p:nvSpPr>
        <p:spPr>
          <a:xfrm>
            <a:off x="1508760" y="4123944"/>
            <a:ext cx="9966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RAG Systems</a:t>
            </a:r>
            <a:pPr indent="0" marL="0">
              <a:buNone/>
            </a:pPr>
            <a:r>
              <a:rPr lang="en-US" sz="14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</a:t>
            </a:r>
            <a:pPr indent="0" marL="0">
              <a:buNone/>
            </a:pPr>
            <a:r>
              <a:rPr lang="en-US" sz="14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RAG pipeline end to end, plus LangChain and LlamaIndex, hands-on</a:t>
            </a:r>
            <a:endParaRPr lang="en-US" sz="145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651052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1 of 4 — Vector Database Fundamentals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5330952" y="651052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Databases &amp; RAG — Day 12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3840480" cy="38404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4937760"/>
            <a:ext cx="3291840" cy="329184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2331720"/>
            <a:ext cx="9875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Understanding LLMs to Grounding Them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3154680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AI</a:t>
            </a:r>
            <a:pPr indent="0" marL="0">
              <a:buNone/>
            </a:pPr>
            <a:r>
              <a:rPr lang="en-US" sz="16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✓</a:t>
            </a:r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</a:t>
            </a:r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Transformers &amp; LLMs</a:t>
            </a:r>
            <a:pPr indent="0" marL="0">
              <a:buNone/>
            </a:pPr>
            <a:r>
              <a:rPr lang="en-US" sz="16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✓</a:t>
            </a:r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</a:t>
            </a:r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Prompting</a:t>
            </a:r>
            <a:pPr indent="0" marL="0">
              <a:buNone/>
            </a:pPr>
            <a:r>
              <a:rPr lang="en-US" sz="16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✓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79476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Today: LLMs only know what they were trained on, and that training data has a cutoff. Vector databases and RAG are how you connect a model to your own, current, private data — without retraining it.</a:t>
            </a:r>
            <a:endParaRPr lang="en-US" sz="145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651052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1 of 4 — Vector Database Fundamentals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5330952" y="651052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Databases &amp; RAG — Day 12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777240" cy="77724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5029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1600200" y="457200"/>
            <a:ext cx="996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a Vector Database?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1600200" y="960120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database purpose-built to store and search high-dimensional vectors, not rows and columns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645920"/>
            <a:ext cx="630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means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057400"/>
            <a:ext cx="630936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38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vector database stores data as embeddings — long lists of numbers that capture meaning — instead of text, numbers, or dates in fixed columns</a:t>
            </a:r>
            <a:endParaRPr lang="en-US" sz="1380" dirty="0"/>
          </a:p>
          <a:p>
            <a:pPr marL="342900" indent="-3429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38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built for one core operation: given a query vector, find the stored vectors most similar to it, fast, even across millions of entries</a:t>
            </a:r>
            <a:endParaRPr lang="en-US" sz="1380" dirty="0"/>
          </a:p>
          <a:p>
            <a:pPr marL="342900" indent="-3429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38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what lets an LLM “search by meaning” — finding a relevant paragraph even if it doesn't share a single keyword with the query</a:t>
            </a:r>
            <a:endParaRPr lang="en-US" sz="1380" dirty="0"/>
          </a:p>
          <a:p>
            <a:pPr marL="342900" indent="-3429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38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Popular examples: FAISS, Annoy, ChromaDB, Milvus, Weaviate, Pinecone</a:t>
            </a:r>
            <a:endParaRPr lang="en-US" sz="1380" dirty="0"/>
          </a:p>
        </p:txBody>
      </p:sp>
      <p:sp>
        <p:nvSpPr>
          <p:cNvPr id="8" name="Shape 6"/>
          <p:cNvSpPr/>
          <p:nvPr/>
        </p:nvSpPr>
        <p:spPr>
          <a:xfrm>
            <a:off x="7269480" y="2148840"/>
            <a:ext cx="1213104" cy="868680"/>
          </a:xfrm>
          <a:prstGeom prst="roundRect">
            <a:avLst>
              <a:gd name="adj" fmla="val 6316"/>
            </a:avLst>
          </a:prstGeom>
          <a:solidFill>
            <a:srgbClr val="065A8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342632" y="2240280"/>
            <a:ext cx="106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Data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7342632" y="2514600"/>
            <a:ext cx="106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docs, PDFs, web pages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8482584" y="2148840"/>
            <a:ext cx="411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8894064" y="2148840"/>
            <a:ext cx="1213104" cy="868680"/>
          </a:xfrm>
          <a:prstGeom prst="roundRect">
            <a:avLst>
              <a:gd name="adj" fmla="val 6316"/>
            </a:avLst>
          </a:prstGeom>
          <a:solidFill>
            <a:srgbClr val="065A8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967216" y="2240280"/>
            <a:ext cx="106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8967216" y="2514600"/>
            <a:ext cx="106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turned into vectors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10107168" y="2148840"/>
            <a:ext cx="411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10518648" y="2148840"/>
            <a:ext cx="1213104" cy="868680"/>
          </a:xfrm>
          <a:prstGeom prst="roundRect">
            <a:avLst>
              <a:gd name="adj" fmla="val 6316"/>
            </a:avLst>
          </a:prstGeom>
          <a:solidFill>
            <a:srgbClr val="1C7293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10591800" y="2240280"/>
            <a:ext cx="106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DB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0591800" y="2514600"/>
            <a:ext cx="106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stored &amp; indexed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7269480" y="3383280"/>
            <a:ext cx="2025396" cy="868680"/>
          </a:xfrm>
          <a:prstGeom prst="roundRect">
            <a:avLst>
              <a:gd name="adj" fmla="val 6316"/>
            </a:avLst>
          </a:prstGeom>
          <a:solidFill>
            <a:srgbClr val="1C7293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342632" y="3474720"/>
            <a:ext cx="18790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7342632" y="3749040"/>
            <a:ext cx="18790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“What is X?”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9294876" y="3383280"/>
            <a:ext cx="411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9706356" y="3383280"/>
            <a:ext cx="2025396" cy="868680"/>
          </a:xfrm>
          <a:prstGeom prst="roundRect">
            <a:avLst>
              <a:gd name="adj" fmla="val 6316"/>
            </a:avLst>
          </a:prstGeom>
          <a:solidFill>
            <a:srgbClr val="1C7293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9779508" y="3474720"/>
            <a:ext cx="18790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Similarity Search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9779508" y="3749040"/>
            <a:ext cx="18790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nearest vectors</a:t>
            </a:r>
            <a:endParaRPr lang="en-US" sz="1050" dirty="0"/>
          </a:p>
        </p:txBody>
      </p:sp>
      <p:sp>
        <p:nvSpPr>
          <p:cNvPr id="26" name="Text 24"/>
          <p:cNvSpPr txBox="1"/>
          <p:nvPr/>
        </p:nvSpPr>
        <p:spPr>
          <a:xfrm>
            <a:off x="7269480" y="4526280"/>
            <a:ext cx="44622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“store, then search by meaning” loop underlies every example in this block.</a:t>
            </a:r>
            <a:endParaRPr lang="en-US" sz="1150" dirty="0"/>
          </a:p>
        </p:txBody>
      </p:sp>
      <p:sp>
        <p:nvSpPr>
          <p:cNvPr id="27" name="Text 25"/>
          <p:cNvSpPr txBox="1"/>
          <p:nvPr/>
        </p:nvSpPr>
        <p:spPr>
          <a:xfrm>
            <a:off x="457200" y="651052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1 of 4 — Vector Database Fundamentals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5330952" y="651052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Databases &amp; RAG — Day 12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41148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Not a Regular Database?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9601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and NoSQL databases are built to match exact values — vector databases are built to match meaning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02920" y="1508760"/>
            <a:ext cx="5193792" cy="4114800"/>
          </a:xfrm>
          <a:prstGeom prst="roundRect">
            <a:avLst>
              <a:gd name="adj" fmla="val 1333"/>
            </a:avLst>
          </a:prstGeom>
          <a:solidFill>
            <a:srgbClr val="EEF1F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764792"/>
            <a:ext cx="45537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Database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221992"/>
            <a:ext cx="4553712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Searches by exact match or range — WHERE price &gt; 500, WHERE name = 'Gautham'</a:t>
            </a:r>
            <a:endParaRPr lang="en-US" sz="130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is structured: fixed rows, columns, and types</a:t>
            </a:r>
            <a:endParaRPr lang="en-US" sz="130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keyword search for “car” won't find a document that only says “automobile”</a:t>
            </a:r>
            <a:endParaRPr lang="en-US" sz="130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Indexes (B-trees, hash indexes) are built for exact lookups, not “closeness”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971032" y="1508760"/>
            <a:ext cx="5193792" cy="4114800"/>
          </a:xfrm>
          <a:prstGeom prst="roundRect">
            <a:avLst>
              <a:gd name="adj" fmla="val 1333"/>
            </a:avLst>
          </a:prstGeom>
          <a:solidFill>
            <a:srgbClr val="E7F2F3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291072" y="1764792"/>
            <a:ext cx="45537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Database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6291072" y="2221992"/>
            <a:ext cx="4553712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Searches by similarity — “find content whose meaning is closest to this query”</a:t>
            </a:r>
            <a:endParaRPr lang="en-US" sz="130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is unstructured, embedded as high-dimensional vectors</a:t>
            </a:r>
            <a:endParaRPr lang="en-US" sz="130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“car” and “automobile” end up as nearby vectors — so the match is found</a:t>
            </a:r>
            <a:endParaRPr lang="en-US" sz="130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Indexes (e.g. HNSW, IVF) are built specifically for fast nearest-neighbor search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651052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1 of 4 — Vector Database Fundamentals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5330952" y="651052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Databases &amp; RAG — Day 12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777240" cy="77724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5029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1600200" y="457200"/>
            <a:ext cx="996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Vector Embeddings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1600200" y="960120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meaning into a long list of numbers a computer can compare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645920"/>
            <a:ext cx="630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means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057400"/>
            <a:ext cx="630936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38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embedding model converts text (or an image, or audio) into a vector — typically hundreds to thousands of numbers long</a:t>
            </a:r>
            <a:endParaRPr lang="en-US" sz="1380" dirty="0"/>
          </a:p>
          <a:p>
            <a:pPr marL="342900" indent="-3429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38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position of that vector in space captures meaning — content with similar meaning ends up with similar vectors</a:t>
            </a:r>
            <a:endParaRPr lang="en-US" sz="1380" dirty="0"/>
          </a:p>
          <a:p>
            <a:pPr marL="342900" indent="-3429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38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“king” and “queen” sit closer together in that space than “king” and “banana”, even though no one programmed that relationship directly</a:t>
            </a:r>
            <a:endParaRPr lang="en-US" sz="1380" dirty="0"/>
          </a:p>
          <a:p>
            <a:pPr marL="342900" indent="-3429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38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embedding models: OpenAI's text-embedding models, Sentence-Transformers, Cohere Embed — each produces vectors of a fixed length</a:t>
            </a:r>
            <a:endParaRPr lang="en-US" sz="1380" dirty="0"/>
          </a:p>
        </p:txBody>
      </p:sp>
      <p:sp>
        <p:nvSpPr>
          <p:cNvPr id="8" name="Shape 6"/>
          <p:cNvSpPr/>
          <p:nvPr/>
        </p:nvSpPr>
        <p:spPr>
          <a:xfrm>
            <a:off x="7269480" y="1600200"/>
            <a:ext cx="4462272" cy="4434840"/>
          </a:xfrm>
          <a:prstGeom prst="roundRect">
            <a:avLst>
              <a:gd name="adj" fmla="val 1649"/>
            </a:avLst>
          </a:prstGeom>
          <a:solidFill>
            <a:srgbClr val="21295C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589520" y="1856232"/>
            <a:ext cx="3822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7589520" y="2286000"/>
            <a:ext cx="3822192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9FE6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"vector database"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9FE6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↓ embed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9FE6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[0.08, -0.21, 0.63, ...]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9FE6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"embedding store"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9FE6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↓ embed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9FE6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[0.11, -0.19, 0.58, ...]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9FE6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Different words, nearly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9FE6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identical vectors — because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9FE6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they mean nearly the same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9FE6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thing.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651052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1 of 4 — Vector Database Fundamentals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5330952" y="651052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Databases &amp; RAG — Day 12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777240" cy="77724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5029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1600200" y="457200"/>
            <a:ext cx="996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Similarity Search Works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1600200" y="960120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the vectors that sit closest to your query, in high-dimensional space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645920"/>
            <a:ext cx="630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means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057400"/>
            <a:ext cx="630936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38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stored item and every incoming query are embedded into the same vector space</a:t>
            </a:r>
            <a:endParaRPr lang="en-US" sz="1380" dirty="0"/>
          </a:p>
          <a:p>
            <a:pPr marL="342900" indent="-3429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38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distance or similarity metric (cosine similarity, Euclidean distance, dot product) scores how close two vectors are</a:t>
            </a:r>
            <a:endParaRPr lang="en-US" sz="1380" dirty="0"/>
          </a:p>
          <a:p>
            <a:pPr marL="342900" indent="-3429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38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database returns the top-k closest vectors — e.g. “the 5 most similar chunks of text”</a:t>
            </a:r>
            <a:endParaRPr lang="en-US" sz="1380" dirty="0"/>
          </a:p>
          <a:p>
            <a:pPr marL="342900" indent="-3429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38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real scale (millions of vectors), checking every single one is too slow — that's where indexing comes in, covered next</a:t>
            </a:r>
            <a:endParaRPr lang="en-US" sz="1380" dirty="0"/>
          </a:p>
        </p:txBody>
      </p:sp>
      <p:sp>
        <p:nvSpPr>
          <p:cNvPr id="8" name="Shape 6"/>
          <p:cNvSpPr/>
          <p:nvPr/>
        </p:nvSpPr>
        <p:spPr>
          <a:xfrm>
            <a:off x="7269480" y="1600200"/>
            <a:ext cx="4462272" cy="4434840"/>
          </a:xfrm>
          <a:prstGeom prst="roundRect">
            <a:avLst>
              <a:gd name="adj" fmla="val 1237"/>
            </a:avLst>
          </a:prstGeom>
          <a:solidFill>
            <a:srgbClr val="21295C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543800" y="1801368"/>
            <a:ext cx="39136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space (simplified to 2D)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909560" y="3017520"/>
            <a:ext cx="146304" cy="146304"/>
          </a:xfrm>
          <a:prstGeom prst="ellipse">
            <a:avLst/>
          </a:prstGeom>
          <a:solidFill>
            <a:srgbClr val="445092"/>
          </a:solidFill>
          <a:ln/>
        </p:spPr>
      </p:sp>
      <p:sp>
        <p:nvSpPr>
          <p:cNvPr id="11" name="Shape 9"/>
          <p:cNvSpPr/>
          <p:nvPr/>
        </p:nvSpPr>
        <p:spPr>
          <a:xfrm>
            <a:off x="8641080" y="3977640"/>
            <a:ext cx="146304" cy="146304"/>
          </a:xfrm>
          <a:prstGeom prst="ellipse">
            <a:avLst/>
          </a:prstGeom>
          <a:solidFill>
            <a:srgbClr val="445092"/>
          </a:solidFill>
          <a:ln/>
        </p:spPr>
      </p:sp>
      <p:sp>
        <p:nvSpPr>
          <p:cNvPr id="12" name="Shape 10"/>
          <p:cNvSpPr/>
          <p:nvPr/>
        </p:nvSpPr>
        <p:spPr>
          <a:xfrm>
            <a:off x="10561320" y="2468880"/>
            <a:ext cx="146304" cy="146304"/>
          </a:xfrm>
          <a:prstGeom prst="ellipse">
            <a:avLst/>
          </a:prstGeom>
          <a:solidFill>
            <a:srgbClr val="445092"/>
          </a:solidFill>
          <a:ln/>
        </p:spPr>
      </p:sp>
      <p:sp>
        <p:nvSpPr>
          <p:cNvPr id="13" name="Shape 11"/>
          <p:cNvSpPr/>
          <p:nvPr/>
        </p:nvSpPr>
        <p:spPr>
          <a:xfrm>
            <a:off x="11018520" y="4251960"/>
            <a:ext cx="146304" cy="146304"/>
          </a:xfrm>
          <a:prstGeom prst="ellipse">
            <a:avLst/>
          </a:prstGeom>
          <a:solidFill>
            <a:srgbClr val="445092"/>
          </a:solidFill>
          <a:ln/>
        </p:spPr>
      </p:sp>
      <p:sp>
        <p:nvSpPr>
          <p:cNvPr id="14" name="Shape 12"/>
          <p:cNvSpPr/>
          <p:nvPr/>
        </p:nvSpPr>
        <p:spPr>
          <a:xfrm>
            <a:off x="7772400" y="4800600"/>
            <a:ext cx="146304" cy="146304"/>
          </a:xfrm>
          <a:prstGeom prst="ellipse">
            <a:avLst/>
          </a:prstGeom>
          <a:solidFill>
            <a:srgbClr val="445092"/>
          </a:solidFill>
          <a:ln/>
        </p:spPr>
      </p:sp>
      <p:sp>
        <p:nvSpPr>
          <p:cNvPr id="15" name="Shape 13"/>
          <p:cNvSpPr/>
          <p:nvPr/>
        </p:nvSpPr>
        <p:spPr>
          <a:xfrm>
            <a:off x="10835640" y="5166360"/>
            <a:ext cx="146304" cy="146304"/>
          </a:xfrm>
          <a:prstGeom prst="ellipse">
            <a:avLst/>
          </a:prstGeom>
          <a:solidFill>
            <a:srgbClr val="445092"/>
          </a:solidFill>
          <a:ln/>
        </p:spPr>
      </p:sp>
      <p:sp>
        <p:nvSpPr>
          <p:cNvPr id="16" name="Shape 14"/>
          <p:cNvSpPr/>
          <p:nvPr/>
        </p:nvSpPr>
        <p:spPr>
          <a:xfrm>
            <a:off x="8366760" y="2377440"/>
            <a:ext cx="146304" cy="146304"/>
          </a:xfrm>
          <a:prstGeom prst="ellipse">
            <a:avLst/>
          </a:prstGeom>
          <a:solidFill>
            <a:srgbClr val="445092"/>
          </a:solidFill>
          <a:ln/>
        </p:spPr>
      </p:sp>
      <p:sp>
        <p:nvSpPr>
          <p:cNvPr id="17" name="Shape 15"/>
          <p:cNvSpPr/>
          <p:nvPr/>
        </p:nvSpPr>
        <p:spPr>
          <a:xfrm>
            <a:off x="11247120" y="3154680"/>
            <a:ext cx="146304" cy="146304"/>
          </a:xfrm>
          <a:prstGeom prst="ellipse">
            <a:avLst/>
          </a:prstGeom>
          <a:solidFill>
            <a:srgbClr val="445092"/>
          </a:solidFill>
          <a:ln/>
        </p:spPr>
      </p:sp>
      <p:sp>
        <p:nvSpPr>
          <p:cNvPr id="18" name="Shape 16"/>
          <p:cNvSpPr/>
          <p:nvPr/>
        </p:nvSpPr>
        <p:spPr>
          <a:xfrm>
            <a:off x="9637776" y="3557016"/>
            <a:ext cx="-320040" cy="-137160"/>
          </a:xfrm>
          <a:prstGeom prst="line">
            <a:avLst/>
          </a:prstGeom>
          <a:noFill/>
          <a:ln w="15875">
            <a:solidFill>
              <a:srgbClr val="1C7293"/>
            </a:solidFill>
            <a:prstDash val="dash"/>
          </a:ln>
        </p:spPr>
      </p:sp>
      <p:sp>
        <p:nvSpPr>
          <p:cNvPr id="19" name="Shape 17"/>
          <p:cNvSpPr/>
          <p:nvPr/>
        </p:nvSpPr>
        <p:spPr>
          <a:xfrm>
            <a:off x="9637776" y="3557016"/>
            <a:ext cx="137160" cy="-457200"/>
          </a:xfrm>
          <a:prstGeom prst="line">
            <a:avLst/>
          </a:prstGeom>
          <a:noFill/>
          <a:ln w="15875">
            <a:solidFill>
              <a:srgbClr val="1C7293"/>
            </a:solidFill>
            <a:prstDash val="dash"/>
          </a:ln>
        </p:spPr>
      </p:sp>
      <p:sp>
        <p:nvSpPr>
          <p:cNvPr id="20" name="Shape 18"/>
          <p:cNvSpPr/>
          <p:nvPr/>
        </p:nvSpPr>
        <p:spPr>
          <a:xfrm>
            <a:off x="9637776" y="3557016"/>
            <a:ext cx="-182880" cy="457200"/>
          </a:xfrm>
          <a:prstGeom prst="line">
            <a:avLst/>
          </a:prstGeom>
          <a:noFill/>
          <a:ln w="15875">
            <a:solidFill>
              <a:srgbClr val="1C7293"/>
            </a:solidFill>
            <a:prstDash val="dash"/>
          </a:ln>
        </p:spPr>
      </p:sp>
      <p:sp>
        <p:nvSpPr>
          <p:cNvPr id="21" name="Shape 19"/>
          <p:cNvSpPr/>
          <p:nvPr/>
        </p:nvSpPr>
        <p:spPr>
          <a:xfrm>
            <a:off x="9235440" y="3337560"/>
            <a:ext cx="182880" cy="18288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692640" y="3017520"/>
            <a:ext cx="182880" cy="18288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372600" y="3931920"/>
            <a:ext cx="182880" cy="18288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555480" y="3474720"/>
            <a:ext cx="237744" cy="237744"/>
          </a:xfrm>
          <a:prstGeom prst="ellipse">
            <a:avLst/>
          </a:prstGeom>
          <a:solidFill>
            <a:srgbClr val="E8A33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543800" y="5623560"/>
            <a:ext cx="39136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</a:t>
            </a:r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vector     </a:t>
            </a:r>
            <a:pPr indent="0" marL="0">
              <a:buNone/>
            </a:pPr>
            <a:r>
              <a:rPr lang="en-US" sz="10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</a:t>
            </a:r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nearest neighbors     </a:t>
            </a:r>
            <a:pPr indent="0" marL="0">
              <a:buNone/>
            </a:pPr>
            <a:r>
              <a:rPr lang="en-US" sz="1050" dirty="0">
                <a:solidFill>
                  <a:srgbClr val="4450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</a:t>
            </a:r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vectors</a:t>
            </a:r>
            <a:endParaRPr lang="en-US" sz="1050" dirty="0"/>
          </a:p>
        </p:txBody>
      </p:sp>
      <p:sp>
        <p:nvSpPr>
          <p:cNvPr id="26" name="Text 24"/>
          <p:cNvSpPr txBox="1"/>
          <p:nvPr/>
        </p:nvSpPr>
        <p:spPr>
          <a:xfrm>
            <a:off x="457200" y="651052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1 of 4 — Vector Database Fundamentals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5330952" y="651052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Databases &amp; RAG — Day 12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41148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Concepts — Indexing &amp; Distance Metrics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9601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vocabulary you'll see in every vector database's documentation</a:t>
            </a:r>
            <a:endParaRPr lang="en-US" sz="13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508760"/>
          <a:ext cx="11183112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8165592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Concept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means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Cosine similarity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Measures the angle between two vectors — ignores length, focuses purely on direction (most common for text)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Euclidean distance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Straight-line distance between two vectors in space — smaller means more similar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Dot product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Multiplies and sums vector components — fast to compute, often used with normalized vectors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Index (e.g. HNSW, IVF)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data structure that organizes vectors so search doesn't require comparing against every single one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Dimensionality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many numbers make up each vector — often 384 to 1536+, depending on the embedding model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57200" y="651052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1 of 4 — Vector Database Fundamentals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5330952" y="651052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Databases &amp; RAG — Day 12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41148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Exact vs Approximate Search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9601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production vector databases trade a small amount of accuracy for a large amount of speed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02920" y="1508760"/>
            <a:ext cx="5193792" cy="4114800"/>
          </a:xfrm>
          <a:prstGeom prst="roundRect">
            <a:avLst>
              <a:gd name="adj" fmla="val 1333"/>
            </a:avLst>
          </a:prstGeom>
          <a:solidFill>
            <a:srgbClr val="EEF1F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764792"/>
            <a:ext cx="45537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(kNN)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221992"/>
            <a:ext cx="4553712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Compares the query against every single stored vector, guaranteeing the true nearest neighbors</a:t>
            </a:r>
            <a:endParaRPr lang="en-US" sz="130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Perfectly accurate — never misses a better match</a:t>
            </a:r>
            <a:endParaRPr lang="en-US" sz="130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Becomes too slow once you have millions of vectors</a:t>
            </a:r>
            <a:endParaRPr lang="en-US" sz="130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when correctness matters more than speed, or datasets are small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971032" y="1508760"/>
            <a:ext cx="5193792" cy="4114800"/>
          </a:xfrm>
          <a:prstGeom prst="roundRect">
            <a:avLst>
              <a:gd name="adj" fmla="val 1333"/>
            </a:avLst>
          </a:prstGeom>
          <a:solidFill>
            <a:srgbClr val="E7F2F3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291072" y="1764792"/>
            <a:ext cx="45537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Approximate (ANN)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6291072" y="2221992"/>
            <a:ext cx="4553712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an index (like HNSW or IVF) to skip most comparisons and find near-best matches quickly</a:t>
            </a:r>
            <a:endParaRPr lang="en-US" sz="130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Trades a small, tunable accuracy loss for large speed gains</a:t>
            </a:r>
            <a:endParaRPr lang="en-US" sz="130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FAISS, Annoy, ChromaDB, and virtually every production vector DB use by default</a:t>
            </a:r>
            <a:endParaRPr lang="en-US" sz="130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“Approximate” in practice usually means 95–99%+ as accurate as exact search, at a fraction of the cost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651052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1 of 4 — Vector Database Fundamentals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5330952" y="651052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Databases &amp; RAG — Day 12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3840480" cy="38404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4937760"/>
            <a:ext cx="3291840" cy="329184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2331720"/>
            <a:ext cx="9875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 — Which Tool Do You Reach For?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3154680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 vector DB is</a:t>
            </a:r>
            <a:pPr indent="0" marL="0">
              <a:buNone/>
            </a:pPr>
            <a:r>
              <a:rPr lang="en-US" sz="16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✓</a:t>
            </a:r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</a:t>
            </a:r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similarity search works</a:t>
            </a:r>
            <a:pPr indent="0" marL="0">
              <a:buNone/>
            </a:pPr>
            <a:r>
              <a:rPr lang="en-US" sz="16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✓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79476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three widely-used open-source options — FAISS, Annoy, and ChromaDB — each with a different sweet spot.</a:t>
            </a:r>
            <a:endParaRPr lang="en-US" sz="145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651052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1 of 4 — Vector Database Fundamentals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5330952" y="651052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Databases &amp; RAG — Day 12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41148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Open-Source Vector DB Landscape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9601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widely-used options — we'll go deep on the first three today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02920" y="1508760"/>
            <a:ext cx="3419856" cy="1920240"/>
          </a:xfrm>
          <a:prstGeom prst="roundRect">
            <a:avLst>
              <a:gd name="adj" fmla="val 2857"/>
            </a:avLst>
          </a:prstGeom>
          <a:solidFill>
            <a:srgbClr val="065A8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77240" y="1737360"/>
            <a:ext cx="28712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FAISS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194560"/>
            <a:ext cx="287121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Meta's library for efficient similarity search, with GPU support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197096" y="1508760"/>
            <a:ext cx="3419856" cy="1920240"/>
          </a:xfrm>
          <a:prstGeom prst="roundRect">
            <a:avLst>
              <a:gd name="adj" fmla="val 2857"/>
            </a:avLst>
          </a:prstGeom>
          <a:solidFill>
            <a:srgbClr val="1C7293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471416" y="1737360"/>
            <a:ext cx="28712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Annoy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4471416" y="2194560"/>
            <a:ext cx="287121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Spotify's lightweight, memory-efficient approximate search library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891272" y="1508760"/>
            <a:ext cx="3419856" cy="1920240"/>
          </a:xfrm>
          <a:prstGeom prst="roundRect">
            <a:avLst>
              <a:gd name="adj" fmla="val 2857"/>
            </a:avLst>
          </a:prstGeom>
          <a:solidFill>
            <a:srgbClr val="065A8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165592" y="1737360"/>
            <a:ext cx="28712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ChromaDB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8165592" y="2194560"/>
            <a:ext cx="287121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Developer-friendly, “batteries-included” embedding database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02920" y="3703320"/>
            <a:ext cx="3419856" cy="1920240"/>
          </a:xfrm>
          <a:prstGeom prst="roundRect">
            <a:avLst>
              <a:gd name="adj" fmla="val 2857"/>
            </a:avLst>
          </a:prstGeom>
          <a:solidFill>
            <a:srgbClr val="1C7293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77240" y="3931920"/>
            <a:ext cx="28712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Milvus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777240" y="4389120"/>
            <a:ext cx="287121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Distributed, highly scalable vector database for production workloads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197096" y="3703320"/>
            <a:ext cx="3419856" cy="1920240"/>
          </a:xfrm>
          <a:prstGeom prst="roundRect">
            <a:avLst>
              <a:gd name="adj" fmla="val 2857"/>
            </a:avLst>
          </a:prstGeom>
          <a:solidFill>
            <a:srgbClr val="065A82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4471416" y="3931920"/>
            <a:ext cx="28712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Weaviate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4471416" y="4389120"/>
            <a:ext cx="287121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database with built-in hybrid (keyword + vector) search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891272" y="3703320"/>
            <a:ext cx="3419856" cy="1920240"/>
          </a:xfrm>
          <a:prstGeom prst="roundRect">
            <a:avLst>
              <a:gd name="adj" fmla="val 2857"/>
            </a:avLst>
          </a:prstGeom>
          <a:solidFill>
            <a:srgbClr val="1C7293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165592" y="3931920"/>
            <a:ext cx="28712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Qdrant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8165592" y="4389120"/>
            <a:ext cx="287121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Rust-based vector database focused on performance and filtering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457200" y="651052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2 of 4 — Vector DB Tools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5330952" y="651052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Databases &amp; RAG — Day 12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777240" cy="77724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5029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1600200" y="457200"/>
            <a:ext cx="996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FAISS — Facebook AI Similarity Search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1600200" y="960120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Meta's library for fast similarity search, built for scale and GPU acceleration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645920"/>
            <a:ext cx="630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means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057400"/>
            <a:ext cx="630936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38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Open-sourced by Meta AI Research — a library, not a full database: you embed it directly into your Python application</a:t>
            </a:r>
            <a:endParaRPr lang="en-US" sz="1380" dirty="0"/>
          </a:p>
          <a:p>
            <a:pPr marL="342900" indent="-3429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38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both exact search and several approximate index types (flat, IVF, product quantization) — you choose the speed/accuracy tradeoff</a:t>
            </a:r>
            <a:endParaRPr lang="en-US" sz="1380" dirty="0"/>
          </a:p>
          <a:p>
            <a:pPr marL="342900" indent="-3429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38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 acceleration makes it extremely fast on very large datasets (hundreds of millions of vectors)</a:t>
            </a:r>
            <a:endParaRPr lang="en-US" sz="1380" dirty="0"/>
          </a:p>
          <a:p>
            <a:pPr marL="342900" indent="-3429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38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great fit when you need raw performance and are comfortable managing persistence yourself</a:t>
            </a:r>
            <a:endParaRPr lang="en-US" sz="1380" dirty="0"/>
          </a:p>
        </p:txBody>
      </p:sp>
      <p:sp>
        <p:nvSpPr>
          <p:cNvPr id="8" name="Shape 6"/>
          <p:cNvSpPr/>
          <p:nvPr/>
        </p:nvSpPr>
        <p:spPr>
          <a:xfrm>
            <a:off x="7269480" y="1600200"/>
            <a:ext cx="4462272" cy="4434840"/>
          </a:xfrm>
          <a:prstGeom prst="roundRect">
            <a:avLst>
              <a:gd name="adj" fmla="val 1649"/>
            </a:avLst>
          </a:prstGeom>
          <a:solidFill>
            <a:srgbClr val="21295C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589520" y="1856232"/>
            <a:ext cx="3822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(Python)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7589520" y="2286000"/>
            <a:ext cx="3822192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9FE6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faiss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9FE6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numpy as np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9FE6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 = 128  # vector dimension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9FE6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index = faiss.IndexFlatL2(d)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9FE6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vectors = np.random.random(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9FE6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(1000, d)).astype('float32')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9FE6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index.add(vectors)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9FE6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query = vectors[:1]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9FE6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D, I = index.search(query, k=5)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9FE6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print(I)  # ids of 5 nearest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651052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2 of 4 — Vector DB Tools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5330952" y="651052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Databases &amp; RAG — Day 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777240" cy="7772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5029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1600200" y="457200"/>
            <a:ext cx="996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Annoy — Approximate Nearest Neighbors Oh Yeah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1600200" y="960120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Spotify's lightweight library, built for static datasets and low memory use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645920"/>
            <a:ext cx="630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means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057400"/>
            <a:ext cx="630936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38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by Spotify to power music recommendations — optimized for read-heavy, rarely-changing data</a:t>
            </a:r>
            <a:endParaRPr lang="en-US" sz="1380" dirty="0"/>
          </a:p>
          <a:p>
            <a:pPr marL="342900" indent="-3429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38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random-projection trees to build an index that's small, fast, and can be memory-mapped straight from disk</a:t>
            </a:r>
            <a:endParaRPr lang="en-US" sz="1380" dirty="0"/>
          </a:p>
          <a:p>
            <a:pPr marL="342900" indent="-3429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38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Indexes are immutable — adding new data means rebuilding the whole index, so it suits static or batch-updated datasets</a:t>
            </a:r>
            <a:endParaRPr lang="en-US" sz="1380" dirty="0"/>
          </a:p>
          <a:p>
            <a:pPr marL="342900" indent="-3429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38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GPU support and no built-in distributed computing, but very simple to set up and very memory-efficient</a:t>
            </a:r>
            <a:endParaRPr lang="en-US" sz="1380" dirty="0"/>
          </a:p>
        </p:txBody>
      </p:sp>
      <p:sp>
        <p:nvSpPr>
          <p:cNvPr id="8" name="Shape 6"/>
          <p:cNvSpPr/>
          <p:nvPr/>
        </p:nvSpPr>
        <p:spPr>
          <a:xfrm>
            <a:off x="7269480" y="1600200"/>
            <a:ext cx="4462272" cy="4434840"/>
          </a:xfrm>
          <a:prstGeom prst="roundRect">
            <a:avLst>
              <a:gd name="adj" fmla="val 1649"/>
            </a:avLst>
          </a:prstGeom>
          <a:solidFill>
            <a:srgbClr val="21295C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589520" y="1856232"/>
            <a:ext cx="3822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(Python)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7589520" y="2286000"/>
            <a:ext cx="3822192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9FE6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annoy import AnnoyIndex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9FE6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 = 128  # vector dimension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9FE6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idx = AnnoyIndex(f, 'angular')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9FE6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i, v in enumerate(vectors):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9FE6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idx.add_item(i, v)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9FE6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idx.build(10)  # 10 trees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9FE6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idx.save('index.ann')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9FE6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idx.get_nns_by_item(0, 5)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651052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2 of 4 — Vector DB Tools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5330952" y="651052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Databases &amp; RAG — Day 12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777240" cy="77724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5029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1600200" y="457200"/>
            <a:ext cx="996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ChromaDB — The Developer-Friendly Vector Store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1600200" y="960120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open-source embedding database built to get a RAG prototype running in minutes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645920"/>
            <a:ext cx="630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means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057400"/>
            <a:ext cx="630936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38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specifically for AI applications — it can even generate embeddings for you, with a built-in default model</a:t>
            </a:r>
            <a:endParaRPr lang="en-US" sz="1380" dirty="0"/>
          </a:p>
          <a:p>
            <a:pPr marL="342900" indent="-3429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38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persistence, metadata filtering, and collections out of the box — far less setup than FAISS or Annoy</a:t>
            </a:r>
            <a:endParaRPr lang="en-US" sz="1380" dirty="0"/>
          </a:p>
          <a:p>
            <a:pPr marL="342900" indent="-3429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38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embedded in your app for prototyping, or as a client-server deployment for production</a:t>
            </a:r>
            <a:endParaRPr lang="en-US" sz="1380" dirty="0"/>
          </a:p>
          <a:p>
            <a:pPr marL="342900" indent="-3429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38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most common first choice for students and teams building their first RAG project</a:t>
            </a:r>
            <a:endParaRPr lang="en-US" sz="1380" dirty="0"/>
          </a:p>
        </p:txBody>
      </p:sp>
      <p:sp>
        <p:nvSpPr>
          <p:cNvPr id="8" name="Shape 6"/>
          <p:cNvSpPr/>
          <p:nvPr/>
        </p:nvSpPr>
        <p:spPr>
          <a:xfrm>
            <a:off x="7269480" y="1600200"/>
            <a:ext cx="4462272" cy="4434840"/>
          </a:xfrm>
          <a:prstGeom prst="roundRect">
            <a:avLst>
              <a:gd name="adj" fmla="val 1649"/>
            </a:avLst>
          </a:prstGeom>
          <a:solidFill>
            <a:srgbClr val="21295C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589520" y="1856232"/>
            <a:ext cx="3822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(Python)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7589520" y="2286000"/>
            <a:ext cx="3822192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9FE6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chromadb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9FE6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client = chromadb.Client()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9FE6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 = client.create_collection(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9FE6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"docs")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9FE6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col.add(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9FE6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documents=["Vector DBs store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9FE6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embeddings", "RAG grounds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9FE6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an LLM in your data"],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9FE6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ids=["doc1", "doc2"])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9FE6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col.query(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9FE6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query_texts=["what is RAG?"],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9FE6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n_results=1)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651052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2 of 4 — Vector DB Tools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5330952" y="651052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Databases &amp; RAG — Day 12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41148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FAISS vs Annoy vs ChromaDB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9601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core job, three very different trade-offs</a:t>
            </a:r>
            <a:endParaRPr lang="en-US" sz="135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508760"/>
          <a:ext cx="11183112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2926080"/>
                <a:gridCol w="2880360"/>
                <a:gridCol w="2999232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Dimension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FAISS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Annoy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ChromaDB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Search type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Exact &amp; approximate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Approximate only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Approximate (pluggable)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GPU support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(CPU-focused)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Updating data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Supports incremental updates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Immutable — full rebuild needed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Supports incremental updates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Setup effort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Moderate — you manage persistence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 — very lightweight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Lowest — batteries included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for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Large-scale, performance-critical search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Static, memory-constrained datasets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 RAG prototyping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57200" y="651052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2 of 4 — Vector DB Tools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5330952" y="651052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Databases &amp; RAG — Day 12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3840480" cy="38404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4937760"/>
            <a:ext cx="3291840" cy="329184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45720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Hands-On: Vector DB Lab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0058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a notebook and work through all four tasks — I'll circulate and help.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5166360" cy="1874520"/>
          </a:xfrm>
          <a:prstGeom prst="roundRect">
            <a:avLst>
              <a:gd name="adj" fmla="val 2927"/>
            </a:avLst>
          </a:prstGeom>
          <a:solidFill>
            <a:srgbClr val="2A3570"/>
          </a:solidFill>
          <a:ln/>
        </p:spPr>
      </p:sp>
      <p:sp>
        <p:nvSpPr>
          <p:cNvPr id="7" name="Shape 5"/>
          <p:cNvSpPr/>
          <p:nvPr/>
        </p:nvSpPr>
        <p:spPr>
          <a:xfrm>
            <a:off x="822960" y="1947672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19476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1463040" y="1947672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 &amp; Compare</a:t>
            </a:r>
            <a:endParaRPr lang="en-US" sz="155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2560320"/>
            <a:ext cx="4617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embeddings for 3 sentences (2 similar, 1 unrelated) and compute cosine similarity between each pair.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989320" y="1691640"/>
            <a:ext cx="5166360" cy="1874520"/>
          </a:xfrm>
          <a:prstGeom prst="roundRect">
            <a:avLst>
              <a:gd name="adj" fmla="val 2927"/>
            </a:avLst>
          </a:prstGeom>
          <a:solidFill>
            <a:srgbClr val="2A3570"/>
          </a:solidFill>
          <a:ln/>
        </p:spPr>
      </p:sp>
      <p:sp>
        <p:nvSpPr>
          <p:cNvPr id="12" name="Shape 10"/>
          <p:cNvSpPr/>
          <p:nvPr/>
        </p:nvSpPr>
        <p:spPr>
          <a:xfrm>
            <a:off x="6263640" y="1947672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263640" y="19476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6903720" y="1947672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 Index</a:t>
            </a:r>
            <a:endParaRPr lang="en-US" sz="1550" dirty="0"/>
          </a:p>
        </p:txBody>
      </p:sp>
      <p:sp>
        <p:nvSpPr>
          <p:cNvPr id="15" name="Text 13"/>
          <p:cNvSpPr txBox="1"/>
          <p:nvPr/>
        </p:nvSpPr>
        <p:spPr>
          <a:xfrm>
            <a:off x="6263640" y="2560320"/>
            <a:ext cx="4617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100 sample vectors into FAISS or Annoy and run a nearest-neighbor query.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3840480"/>
            <a:ext cx="5166360" cy="1874520"/>
          </a:xfrm>
          <a:prstGeom prst="roundRect">
            <a:avLst>
              <a:gd name="adj" fmla="val 2927"/>
            </a:avLst>
          </a:prstGeom>
          <a:solidFill>
            <a:srgbClr val="2A3570"/>
          </a:solidFill>
          <a:ln/>
        </p:spPr>
      </p:sp>
      <p:sp>
        <p:nvSpPr>
          <p:cNvPr id="17" name="Shape 15"/>
          <p:cNvSpPr/>
          <p:nvPr/>
        </p:nvSpPr>
        <p:spPr>
          <a:xfrm>
            <a:off x="822960" y="4096512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22960" y="40965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9" name="Text 17"/>
          <p:cNvSpPr txBox="1"/>
          <p:nvPr/>
        </p:nvSpPr>
        <p:spPr>
          <a:xfrm>
            <a:off x="1463040" y="4096512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ChromaDB Collection</a:t>
            </a:r>
            <a:endParaRPr lang="en-US" sz="1550" dirty="0"/>
          </a:p>
        </p:txBody>
      </p:sp>
      <p:sp>
        <p:nvSpPr>
          <p:cNvPr id="20" name="Text 18"/>
          <p:cNvSpPr txBox="1"/>
          <p:nvPr/>
        </p:nvSpPr>
        <p:spPr>
          <a:xfrm>
            <a:off x="822960" y="4709160"/>
            <a:ext cx="4617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ChromaDB collection, add 5 short documents, and query it with a natural-language question.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989320" y="3840480"/>
            <a:ext cx="5166360" cy="1874520"/>
          </a:xfrm>
          <a:prstGeom prst="roundRect">
            <a:avLst>
              <a:gd name="adj" fmla="val 2927"/>
            </a:avLst>
          </a:prstGeom>
          <a:solidFill>
            <a:srgbClr val="2A3570"/>
          </a:solidFill>
          <a:ln/>
        </p:spPr>
      </p:sp>
      <p:sp>
        <p:nvSpPr>
          <p:cNvPr id="22" name="Shape 20"/>
          <p:cNvSpPr/>
          <p:nvPr/>
        </p:nvSpPr>
        <p:spPr>
          <a:xfrm>
            <a:off x="6263640" y="4096512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263640" y="40965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24" name="Text 22"/>
          <p:cNvSpPr txBox="1"/>
          <p:nvPr/>
        </p:nvSpPr>
        <p:spPr>
          <a:xfrm>
            <a:off x="6903720" y="4096512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Results</a:t>
            </a:r>
            <a:endParaRPr lang="en-US" sz="1550" dirty="0"/>
          </a:p>
        </p:txBody>
      </p:sp>
      <p:sp>
        <p:nvSpPr>
          <p:cNvPr id="25" name="Text 23"/>
          <p:cNvSpPr txBox="1"/>
          <p:nvPr/>
        </p:nvSpPr>
        <p:spPr>
          <a:xfrm>
            <a:off x="6263640" y="4709160"/>
            <a:ext cx="4617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same query against two different tools. Do the top results match? Why or why not?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548640" y="6007608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solo or in pairs · 25 minutes · ask a neighbor before you ask me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457200" y="651052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2 of 4 — Vector DB Tools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5330952" y="651052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Databases &amp; RAG — Day 12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3840480" cy="38404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4937760"/>
            <a:ext cx="3291840" cy="329184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2331720"/>
            <a:ext cx="9875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Now — Put Vectors to Work: RAG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3154680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DB fundamentals</a:t>
            </a:r>
            <a:pPr indent="0" marL="0">
              <a:buNone/>
            </a:pPr>
            <a:r>
              <a:rPr lang="en-US" sz="16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✓</a:t>
            </a:r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</a:t>
            </a:r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FAISS, Annoy, ChromaDB</a:t>
            </a:r>
            <a:pPr indent="0" marL="0">
              <a:buNone/>
            </a:pPr>
            <a:r>
              <a:rPr lang="en-US" sz="16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✓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79476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Storing and searching vectors is only half the story. Next: how that search result turns into a grounded, trustworthy LLM answer — Retrieval-Augmented Generation.</a:t>
            </a:r>
            <a:endParaRPr lang="en-US" sz="145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651052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3 of 4 — Introduction to RAG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5330952" y="651052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Databases &amp; RAG — Day 12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777240" cy="77724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5029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1600200" y="457200"/>
            <a:ext cx="996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RAG?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1600200" y="960120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Retrieval-Augmented Generation — giving an LLM relevant facts before it answers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645920"/>
            <a:ext cx="630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means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057400"/>
            <a:ext cx="630936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38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combines a retrieval step (vector search over your data) with a generation step (an LLM writing the final answer)</a:t>
            </a:r>
            <a:endParaRPr lang="en-US" sz="1380" dirty="0"/>
          </a:p>
          <a:p>
            <a:pPr marL="342900" indent="-3429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38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Instead of relying only on what the model memorized during training, it's handed relevant, current passages at answer time</a:t>
            </a:r>
            <a:endParaRPr lang="en-US" sz="1380" dirty="0"/>
          </a:p>
          <a:p>
            <a:pPr marL="342900" indent="-3429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38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dramatically reduces hallucination and lets the model cite exactly where an answer came from</a:t>
            </a:r>
            <a:endParaRPr lang="en-US" sz="1380" dirty="0"/>
          </a:p>
          <a:p>
            <a:pPr marL="342900" indent="-3429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38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doesn't retrain the model — it changes what the model sees in its prompt, for every single query</a:t>
            </a:r>
            <a:endParaRPr lang="en-US" sz="1380" dirty="0"/>
          </a:p>
        </p:txBody>
      </p:sp>
      <p:sp>
        <p:nvSpPr>
          <p:cNvPr id="8" name="Shape 6"/>
          <p:cNvSpPr/>
          <p:nvPr/>
        </p:nvSpPr>
        <p:spPr>
          <a:xfrm>
            <a:off x="7269480" y="2377440"/>
            <a:ext cx="806958" cy="1051560"/>
          </a:xfrm>
          <a:prstGeom prst="roundRect">
            <a:avLst>
              <a:gd name="adj" fmla="val 6799"/>
            </a:avLst>
          </a:prstGeom>
          <a:solidFill>
            <a:srgbClr val="065A8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342632" y="2468880"/>
            <a:ext cx="66065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7342632" y="2926080"/>
            <a:ext cx="66065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user's question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8076438" y="2377440"/>
            <a:ext cx="411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8487918" y="2377440"/>
            <a:ext cx="806958" cy="1051560"/>
          </a:xfrm>
          <a:prstGeom prst="roundRect">
            <a:avLst>
              <a:gd name="adj" fmla="val 6799"/>
            </a:avLst>
          </a:prstGeom>
          <a:solidFill>
            <a:srgbClr val="065A8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561070" y="2468880"/>
            <a:ext cx="66065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8561070" y="2926080"/>
            <a:ext cx="66065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vector DB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9294876" y="2377440"/>
            <a:ext cx="411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9706356" y="2377440"/>
            <a:ext cx="806958" cy="1051560"/>
          </a:xfrm>
          <a:prstGeom prst="roundRect">
            <a:avLst>
              <a:gd name="adj" fmla="val 6799"/>
            </a:avLst>
          </a:prstGeom>
          <a:solidFill>
            <a:srgbClr val="065A82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779508" y="2468880"/>
            <a:ext cx="66065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Augment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9779508" y="2926080"/>
            <a:ext cx="66065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context to prompt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10513314" y="2377440"/>
            <a:ext cx="411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10924794" y="2377440"/>
            <a:ext cx="806958" cy="1051560"/>
          </a:xfrm>
          <a:prstGeom prst="roundRect">
            <a:avLst>
              <a:gd name="adj" fmla="val 6799"/>
            </a:avLst>
          </a:prstGeom>
          <a:solidFill>
            <a:srgbClr val="1C7293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10997946" y="2468880"/>
            <a:ext cx="66065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10997946" y="2926080"/>
            <a:ext cx="66065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answers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7269480" y="3794760"/>
            <a:ext cx="446227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four-step loop runs on every single question — it's the one idea the rest of this block builds on.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651052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3 of 4 — Introduction to RAG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5330952" y="651052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Databases &amp; RAG — Day 12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41148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RAG? The Problem It Solves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9601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model, with and without access to your data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02920" y="1508760"/>
            <a:ext cx="5193792" cy="4114800"/>
          </a:xfrm>
          <a:prstGeom prst="roundRect">
            <a:avLst>
              <a:gd name="adj" fmla="val 1333"/>
            </a:avLst>
          </a:prstGeom>
          <a:solidFill>
            <a:srgbClr val="FBEAE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764792"/>
            <a:ext cx="45537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2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RAG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221992"/>
            <a:ext cx="4553712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knows what was in its training data — nothing about your documents, policies, or recent events</a:t>
            </a:r>
            <a:endParaRPr lang="en-US" sz="130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 a knowledge cutoff — can't know about anything after training ended</a:t>
            </a:r>
            <a:endParaRPr lang="en-US" sz="130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it doesn't know something, it can still generate a fluent, confident, wrong answer (hallucination)</a:t>
            </a:r>
            <a:endParaRPr lang="en-US" sz="130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way to show where an answer came from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971032" y="1508760"/>
            <a:ext cx="5193792" cy="4114800"/>
          </a:xfrm>
          <a:prstGeom prst="roundRect">
            <a:avLst>
              <a:gd name="adj" fmla="val 1333"/>
            </a:avLst>
          </a:prstGeom>
          <a:solidFill>
            <a:srgbClr val="EAF6F0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291072" y="1764792"/>
            <a:ext cx="45537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7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RAG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6291072" y="2221992"/>
            <a:ext cx="4553712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Retrieves the most relevant passages from your own documents before answering</a:t>
            </a:r>
            <a:endParaRPr lang="en-US" sz="130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reflect information added yesterday, as long as it's in the vector database</a:t>
            </a:r>
            <a:endParaRPr lang="en-US" sz="130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Grounds its answer in retrieved text — far less likely to invent facts</a:t>
            </a:r>
            <a:endParaRPr lang="en-US" sz="130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cite the exact source passage, which is auditable and far more trustworthy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651052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3 of 4 — Introduction to RAG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5330952" y="651052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Databases &amp; RAG — Day 12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41148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Do We Use RAG?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9601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retrieve-then-generate pattern, applied across very different problems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02920" y="1508760"/>
            <a:ext cx="3419856" cy="1920240"/>
          </a:xfrm>
          <a:prstGeom prst="roundRect">
            <a:avLst>
              <a:gd name="adj" fmla="val 2857"/>
            </a:avLst>
          </a:prstGeom>
          <a:solidFill>
            <a:srgbClr val="065A8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77240" y="1737360"/>
            <a:ext cx="28712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Support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194560"/>
            <a:ext cx="287121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grounded in manuals, FAQs, and past tickets, with escalation when context is too thin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197096" y="1508760"/>
            <a:ext cx="3419856" cy="1920240"/>
          </a:xfrm>
          <a:prstGeom prst="roundRect">
            <a:avLst>
              <a:gd name="adj" fmla="val 2857"/>
            </a:avLst>
          </a:prstGeom>
          <a:solidFill>
            <a:srgbClr val="1C7293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471416" y="1737360"/>
            <a:ext cx="28712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Search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4471416" y="2194560"/>
            <a:ext cx="287121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Cited, permission-aware answers across docs, wikis, chats, and project tools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891272" y="1508760"/>
            <a:ext cx="3419856" cy="1920240"/>
          </a:xfrm>
          <a:prstGeom prst="roundRect">
            <a:avLst>
              <a:gd name="adj" fmla="val 2857"/>
            </a:avLst>
          </a:prstGeom>
          <a:solidFill>
            <a:srgbClr val="065A8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165592" y="1737360"/>
            <a:ext cx="28712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Q&amp;A &amp; Compliance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8165592" y="2194560"/>
            <a:ext cx="287121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that cite the exact policy clause — critical in regulated industries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02920" y="3703320"/>
            <a:ext cx="3419856" cy="1920240"/>
          </a:xfrm>
          <a:prstGeom prst="roundRect">
            <a:avLst>
              <a:gd name="adj" fmla="val 2857"/>
            </a:avLst>
          </a:prstGeom>
          <a:solidFill>
            <a:srgbClr val="1C7293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77240" y="3931920"/>
            <a:ext cx="28712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&amp; Sales Enablement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777240" y="4389120"/>
            <a:ext cx="287121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Drafts grounded in approved messaging, current pricing, and competitive intel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197096" y="3703320"/>
            <a:ext cx="3419856" cy="1920240"/>
          </a:xfrm>
          <a:prstGeom prst="roundRect">
            <a:avLst>
              <a:gd name="adj" fmla="val 2857"/>
            </a:avLst>
          </a:prstGeom>
          <a:solidFill>
            <a:srgbClr val="065A82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4471416" y="3931920"/>
            <a:ext cx="28712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Summarization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4471416" y="4389120"/>
            <a:ext cx="287121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dashboards and records to summarize what changed, and why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891272" y="3703320"/>
            <a:ext cx="3419856" cy="1920240"/>
          </a:xfrm>
          <a:prstGeom prst="roundRect">
            <a:avLst>
              <a:gd name="adj" fmla="val 2857"/>
            </a:avLst>
          </a:prstGeom>
          <a:solidFill>
            <a:srgbClr val="1C7293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165592" y="3931920"/>
            <a:ext cx="28712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Analysis &amp; Risk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8165592" y="4389120"/>
            <a:ext cx="287121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Retrieves relevant tables, logs, or prior cases before generating a query or summary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457200" y="651052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3 of 4 — Introduction to RAG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5330952" y="651052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Databases &amp; RAG — Day 12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41148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RAG in Industry — Real Deployments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9601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hypothetical — companies you've heard of, running RAG in production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02920" y="1508760"/>
            <a:ext cx="3419856" cy="1920240"/>
          </a:xfrm>
          <a:prstGeom prst="roundRect">
            <a:avLst>
              <a:gd name="adj" fmla="val 2857"/>
            </a:avLst>
          </a:prstGeom>
          <a:solidFill>
            <a:srgbClr val="065A8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77240" y="1737360"/>
            <a:ext cx="28712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194560"/>
            <a:ext cx="287121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Pairs RAG with a knowledge graph of past support tickets — reported a 28.6% cut in median issue-resolution time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197096" y="1508760"/>
            <a:ext cx="3419856" cy="1920240"/>
          </a:xfrm>
          <a:prstGeom prst="roundRect">
            <a:avLst>
              <a:gd name="adj" fmla="val 2857"/>
            </a:avLst>
          </a:prstGeom>
          <a:solidFill>
            <a:srgbClr val="1C7293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471416" y="1737360"/>
            <a:ext cx="28712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DoorDash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4471416" y="2194560"/>
            <a:ext cx="287121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a RAG pipeline for Dasher support, with an LLM judge scoring responses before they reach the user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891272" y="1508760"/>
            <a:ext cx="3419856" cy="1920240"/>
          </a:xfrm>
          <a:prstGeom prst="roundRect">
            <a:avLst>
              <a:gd name="adj" fmla="val 2857"/>
            </a:avLst>
          </a:prstGeom>
          <a:solidFill>
            <a:srgbClr val="065A8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165592" y="1737360"/>
            <a:ext cx="28712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Grab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8165592" y="2194560"/>
            <a:ext cx="287121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Its RAG-based Report Summarizer reportedly cuts 3–4 hours off writing each report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02920" y="3703320"/>
            <a:ext cx="3419856" cy="1920240"/>
          </a:xfrm>
          <a:prstGeom prst="roundRect">
            <a:avLst>
              <a:gd name="adj" fmla="val 2857"/>
            </a:avLst>
          </a:prstGeom>
          <a:solidFill>
            <a:srgbClr val="1C7293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77240" y="3931920"/>
            <a:ext cx="28712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Pinterest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777240" y="4389120"/>
            <a:ext cx="287121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RAG for table selection in its text-to-SQL system — retrieving the right tables from thousands before querying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197096" y="3703320"/>
            <a:ext cx="3419856" cy="1920240"/>
          </a:xfrm>
          <a:prstGeom prst="roundRect">
            <a:avLst>
              <a:gd name="adj" fmla="val 2857"/>
            </a:avLst>
          </a:prstGeom>
          <a:solidFill>
            <a:srgbClr val="065A82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4471416" y="3931920"/>
            <a:ext cx="28712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Regulated industries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4471416" y="4389120"/>
            <a:ext cx="287121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services, legal, and healthcare lean on RAG specifically because cited, traceable answers matter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891272" y="3703320"/>
            <a:ext cx="3419856" cy="1920240"/>
          </a:xfrm>
          <a:prstGeom prst="roundRect">
            <a:avLst>
              <a:gd name="adj" fmla="val 2857"/>
            </a:avLst>
          </a:prstGeom>
          <a:solidFill>
            <a:srgbClr val="1C7293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165592" y="3931920"/>
            <a:ext cx="28712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&amp; manufacturing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8165592" y="4389120"/>
            <a:ext cx="287121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 where product docs, policies, and support content are scattered across many systems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457200" y="651052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3 of 4 — Introduction to RAG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5330952" y="651052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Databases &amp; RAG — Day 12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41148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RAG Pipeline, End to End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9601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six stages, whether you build it with raw Python, LangChain, or LlamaIndex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3200400" y="1463040"/>
            <a:ext cx="5788152" cy="676656"/>
          </a:xfrm>
          <a:prstGeom prst="roundRect">
            <a:avLst>
              <a:gd name="adj" fmla="val 8108"/>
            </a:avLst>
          </a:prstGeom>
          <a:solidFill>
            <a:srgbClr val="065A8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3474720" y="1554480"/>
            <a:ext cx="52395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Load Documents</a:t>
            </a:r>
            <a:endParaRPr lang="en-US" sz="1450" dirty="0"/>
          </a:p>
        </p:txBody>
      </p:sp>
      <p:sp>
        <p:nvSpPr>
          <p:cNvPr id="6" name="Text 4"/>
          <p:cNvSpPr txBox="1"/>
          <p:nvPr/>
        </p:nvSpPr>
        <p:spPr>
          <a:xfrm>
            <a:off x="3474720" y="1883664"/>
            <a:ext cx="523951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PDFs, web pages, wikis, tickets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3200400" y="2139696"/>
            <a:ext cx="578815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200400" y="2231136"/>
            <a:ext cx="5788152" cy="676656"/>
          </a:xfrm>
          <a:prstGeom prst="roundRect">
            <a:avLst>
              <a:gd name="adj" fmla="val 8108"/>
            </a:avLst>
          </a:prstGeom>
          <a:solidFill>
            <a:srgbClr val="065A8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474720" y="2322576"/>
            <a:ext cx="52395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Chunk</a:t>
            </a:r>
            <a:endParaRPr lang="en-US" sz="1450" dirty="0"/>
          </a:p>
        </p:txBody>
      </p:sp>
      <p:sp>
        <p:nvSpPr>
          <p:cNvPr id="10" name="Text 8"/>
          <p:cNvSpPr txBox="1"/>
          <p:nvPr/>
        </p:nvSpPr>
        <p:spPr>
          <a:xfrm>
            <a:off x="3474720" y="2651760"/>
            <a:ext cx="523951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into smaller, retrievable pieces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3200400" y="2907792"/>
            <a:ext cx="578815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200400" y="2999232"/>
            <a:ext cx="5788152" cy="676656"/>
          </a:xfrm>
          <a:prstGeom prst="roundRect">
            <a:avLst>
              <a:gd name="adj" fmla="val 8108"/>
            </a:avLst>
          </a:prstGeom>
          <a:solidFill>
            <a:srgbClr val="065A8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3474720" y="3090672"/>
            <a:ext cx="52395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Embed</a:t>
            </a:r>
            <a:endParaRPr lang="en-US" sz="1450" dirty="0"/>
          </a:p>
        </p:txBody>
      </p:sp>
      <p:sp>
        <p:nvSpPr>
          <p:cNvPr id="14" name="Text 12"/>
          <p:cNvSpPr txBox="1"/>
          <p:nvPr/>
        </p:nvSpPr>
        <p:spPr>
          <a:xfrm>
            <a:off x="3474720" y="3419856"/>
            <a:ext cx="523951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chunk → a vector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3200400" y="3675888"/>
            <a:ext cx="578815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3200400" y="3767328"/>
            <a:ext cx="5788152" cy="676656"/>
          </a:xfrm>
          <a:prstGeom prst="roundRect">
            <a:avLst>
              <a:gd name="adj" fmla="val 8108"/>
            </a:avLst>
          </a:prstGeom>
          <a:solidFill>
            <a:srgbClr val="065A82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3474720" y="3858768"/>
            <a:ext cx="52395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Store in Vector DB</a:t>
            </a:r>
            <a:endParaRPr lang="en-US" sz="1450" dirty="0"/>
          </a:p>
        </p:txBody>
      </p:sp>
      <p:sp>
        <p:nvSpPr>
          <p:cNvPr id="18" name="Text 16"/>
          <p:cNvSpPr txBox="1"/>
          <p:nvPr/>
        </p:nvSpPr>
        <p:spPr>
          <a:xfrm>
            <a:off x="3474720" y="4187952"/>
            <a:ext cx="523951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FAISS, Annoy, ChromaDB, ...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3200400" y="4443984"/>
            <a:ext cx="578815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3200400" y="4535424"/>
            <a:ext cx="5788152" cy="676656"/>
          </a:xfrm>
          <a:prstGeom prst="roundRect">
            <a:avLst>
              <a:gd name="adj" fmla="val 8108"/>
            </a:avLst>
          </a:prstGeom>
          <a:solidFill>
            <a:srgbClr val="065A82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3474720" y="4626864"/>
            <a:ext cx="52395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Retrieve</a:t>
            </a:r>
            <a:endParaRPr lang="en-US" sz="1450" dirty="0"/>
          </a:p>
        </p:txBody>
      </p:sp>
      <p:sp>
        <p:nvSpPr>
          <p:cNvPr id="22" name="Text 20"/>
          <p:cNvSpPr txBox="1"/>
          <p:nvPr/>
        </p:nvSpPr>
        <p:spPr>
          <a:xfrm>
            <a:off x="3474720" y="4956048"/>
            <a:ext cx="523951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chunks closest to the query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3200400" y="5212080"/>
            <a:ext cx="578815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3200400" y="5303520"/>
            <a:ext cx="5788152" cy="676656"/>
          </a:xfrm>
          <a:prstGeom prst="roundRect">
            <a:avLst>
              <a:gd name="adj" fmla="val 8108"/>
            </a:avLst>
          </a:prstGeom>
          <a:solidFill>
            <a:srgbClr val="065A82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3474720" y="5394960"/>
            <a:ext cx="52395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Generate</a:t>
            </a:r>
            <a:endParaRPr lang="en-US" sz="1450" dirty="0"/>
          </a:p>
        </p:txBody>
      </p:sp>
      <p:sp>
        <p:nvSpPr>
          <p:cNvPr id="26" name="Text 24"/>
          <p:cNvSpPr txBox="1"/>
          <p:nvPr/>
        </p:nvSpPr>
        <p:spPr>
          <a:xfrm>
            <a:off x="3474720" y="5724144"/>
            <a:ext cx="523951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answers using retrieved chunks</a:t>
            </a:r>
            <a:endParaRPr lang="en-US" sz="1150" dirty="0"/>
          </a:p>
        </p:txBody>
      </p:sp>
      <p:sp>
        <p:nvSpPr>
          <p:cNvPr id="27" name="Text 25"/>
          <p:cNvSpPr txBox="1"/>
          <p:nvPr/>
        </p:nvSpPr>
        <p:spPr>
          <a:xfrm>
            <a:off x="457200" y="651052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4 of 4 — Building RAG Systems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5330952" y="651052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Databases &amp; RAG — Day 12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777240" cy="77724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5029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1600200" y="457200"/>
            <a:ext cx="996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Chunking &amp; Embedding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1600200" y="960120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Breaking documents into retrievable pieces, then turning each into a vector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645920"/>
            <a:ext cx="630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means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057400"/>
            <a:ext cx="630936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38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whole document is usually too long and too broad to embed as one vector — it gets split into smaller chunks first</a:t>
            </a:r>
            <a:endParaRPr lang="en-US" sz="1380" dirty="0"/>
          </a:p>
          <a:p>
            <a:pPr marL="342900" indent="-3429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38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 size is a real design choice: too small loses context, too large dilutes relevance and wastes tokens — a common starting point is a few hundred words with some overlap between chunks</a:t>
            </a:r>
            <a:endParaRPr lang="en-US" sz="1380" dirty="0"/>
          </a:p>
          <a:p>
            <a:pPr marL="342900" indent="-3429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38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chunk is passed through an embedding model and stored in the vector database, alongside metadata like the source document and page number</a:t>
            </a:r>
            <a:endParaRPr lang="en-US" sz="1380" dirty="0"/>
          </a:p>
          <a:p>
            <a:pPr marL="342900" indent="-3429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38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chunking is one of the highest-leverage things you can tune in a RAG system</a:t>
            </a:r>
            <a:endParaRPr lang="en-US" sz="1380" dirty="0"/>
          </a:p>
        </p:txBody>
      </p:sp>
      <p:sp>
        <p:nvSpPr>
          <p:cNvPr id="8" name="Shape 6"/>
          <p:cNvSpPr/>
          <p:nvPr/>
        </p:nvSpPr>
        <p:spPr>
          <a:xfrm>
            <a:off x="7269480" y="1600200"/>
            <a:ext cx="4462272" cy="4434840"/>
          </a:xfrm>
          <a:prstGeom prst="roundRect">
            <a:avLst>
              <a:gd name="adj" fmla="val 1649"/>
            </a:avLst>
          </a:prstGeom>
          <a:solidFill>
            <a:srgbClr val="21295C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589520" y="1856232"/>
            <a:ext cx="3822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7589520" y="2286000"/>
            <a:ext cx="3822192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9FE6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Document (2,000 words)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9FE6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↓ split, ~200 words each,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9FE6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50-word overlap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9FE6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[chunk 1] [chunk 2] ...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9FE6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[chunk 10]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9FE6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↓ embed each chunk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9FE6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[0.12, -0.3, ...]  (chunk 1)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9FE6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[0.09, -0.4, ...]  (chunk 2)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9FE6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...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9FE6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↓ store with metadata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9FE6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{source: "policy.pdf", page: 3}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651052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4 of 4 — Building RAG Systems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5330952" y="651052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Databases &amp; RAG — Day 12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777240" cy="77724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5029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1600200" y="457200"/>
            <a:ext cx="996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Retrieval &amp; Generation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1600200" y="960120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a search result into a grounded, trustworthy answer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645920"/>
            <a:ext cx="630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means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057400"/>
            <a:ext cx="630936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38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user's question is embedded the same way the documents were, then the vector DB returns the top-k most similar chunks</a:t>
            </a:r>
            <a:endParaRPr lang="en-US" sz="1380" dirty="0"/>
          </a:p>
          <a:p>
            <a:pPr marL="342900" indent="-3429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38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Those chunks are inserted into the prompt alongside the question — this is the “augmented” step in Retrieval-Augmented Generation</a:t>
            </a:r>
            <a:endParaRPr lang="en-US" sz="1380" dirty="0"/>
          </a:p>
          <a:p>
            <a:pPr marL="342900" indent="-3429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38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LLM is instructed to answer using only (or primarily) the retrieved context, and ideally to cite which chunk each claim came from</a:t>
            </a:r>
            <a:endParaRPr lang="en-US" sz="1380" dirty="0"/>
          </a:p>
          <a:p>
            <a:pPr marL="342900" indent="-3429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38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retrieval finds nothing relevant, a well-built RAG system says so, instead of letting the model guess</a:t>
            </a:r>
            <a:endParaRPr lang="en-US" sz="1380" dirty="0"/>
          </a:p>
        </p:txBody>
      </p:sp>
      <p:sp>
        <p:nvSpPr>
          <p:cNvPr id="8" name="Shape 6"/>
          <p:cNvSpPr/>
          <p:nvPr/>
        </p:nvSpPr>
        <p:spPr>
          <a:xfrm>
            <a:off x="7269480" y="1600200"/>
            <a:ext cx="4462272" cy="4434840"/>
          </a:xfrm>
          <a:prstGeom prst="roundRect">
            <a:avLst>
              <a:gd name="adj" fmla="val 1649"/>
            </a:avLst>
          </a:prstGeom>
          <a:solidFill>
            <a:srgbClr val="21295C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589520" y="1856232"/>
            <a:ext cx="3822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7589520" y="2286000"/>
            <a:ext cx="3822192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9FE6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Query: "What's our refund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9FE6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policy?"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9FE6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Retrieved chunk: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9FE6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"Refunds are issued within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9FE6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14 days of purchase..."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9FE6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(source: policy.pdf, p.3)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9FE6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Prompt to LLM: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9FE6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"Using only this context,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9FE6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answer: {query}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9FE6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Context: {retrieved chunk}"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9FE6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Answer: "Refunds are issued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9FE6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within 14 days [policy.pdf, p.3]"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651052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4 of 4 — Building RAG Systems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5330952" y="651052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Databases &amp; RAG — Day 12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777240" cy="77724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5029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1600200" y="457200"/>
            <a:ext cx="996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Building RAG with LangChain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1600200" y="960120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workflow-first framework — strong for composing chains and agents around retrieval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645920"/>
            <a:ext cx="630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means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057400"/>
            <a:ext cx="630936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38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 models LLM apps as workflows — components like models, tools, memory, and data sources are composed into pipelines</a:t>
            </a:r>
            <a:endParaRPr lang="en-US" sz="1380" dirty="0"/>
          </a:p>
          <a:p>
            <a:pPr marL="342900" indent="-3429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38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Its companion, LangGraph, adds stateful, graph-based execution — useful for agents with branching logic, loops, or human approval steps</a:t>
            </a:r>
            <a:endParaRPr lang="en-US" sz="1380" dirty="0"/>
          </a:p>
          <a:p>
            <a:pPr marL="342900" indent="-3429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38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integration ecosystem (loaders, vector stores, LLM providers) and first-party tracing via LangSmith</a:t>
            </a:r>
            <a:endParaRPr lang="en-US" sz="1380" dirty="0"/>
          </a:p>
          <a:p>
            <a:pPr marL="342900" indent="-3429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38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fit when retrieval is just one part of a larger, more complex, multi-step application</a:t>
            </a:r>
            <a:endParaRPr lang="en-US" sz="1380" dirty="0"/>
          </a:p>
        </p:txBody>
      </p:sp>
      <p:sp>
        <p:nvSpPr>
          <p:cNvPr id="8" name="Shape 6"/>
          <p:cNvSpPr/>
          <p:nvPr/>
        </p:nvSpPr>
        <p:spPr>
          <a:xfrm>
            <a:off x="7269480" y="1600200"/>
            <a:ext cx="4462272" cy="4434840"/>
          </a:xfrm>
          <a:prstGeom prst="roundRect">
            <a:avLst>
              <a:gd name="adj" fmla="val 1649"/>
            </a:avLst>
          </a:prstGeom>
          <a:solidFill>
            <a:srgbClr val="21295C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589520" y="1856232"/>
            <a:ext cx="3822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(Python)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7589520" y="2286000"/>
            <a:ext cx="3822192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9FE6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langchain_community.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9FE6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vectorstores import Chroma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9FE6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langchain.chains import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9FE6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RetrievalQA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9FE6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vectordb = Chroma(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9FE6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persist_directory="db",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9FE6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embedding_function=embed)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9FE6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qa = RetrievalQA.from_chain_type(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9FE6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llm=llm,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9FE6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retriever=vectordb.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9FE6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as_retriever())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9FE6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qa.run("What is RAG?")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651052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4 of 4 — Building RAG Systems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5330952" y="651052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Databases &amp; RAG — Day 12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777240" cy="7772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5029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1600200" y="457200"/>
            <a:ext cx="996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Building RAG with LlamaIndex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1600200" y="960120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retrieval-first framework — built specifically to connect LLMs to your data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645920"/>
            <a:ext cx="630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means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057400"/>
            <a:ext cx="630936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38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LlamaIndex centers on ingestion, chunking, indexing, and retrieval — its query engines handle most of the retrieval work for you</a:t>
            </a:r>
            <a:endParaRPr lang="en-US" sz="1380" dirty="0"/>
          </a:p>
          <a:p>
            <a:pPr marL="342900" indent="-3429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38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Ships with more retrieval features out of the box: hierarchical chunking, hybrid search, sub-question decomposition, and built-in answer evaluators</a:t>
            </a:r>
            <a:endParaRPr lang="en-US" sz="1380" dirty="0"/>
          </a:p>
          <a:p>
            <a:pPr marL="342900" indent="-3429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38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Generally a lower entry barrier for RAG specifically, with more stable versioning than LangChain</a:t>
            </a:r>
            <a:endParaRPr lang="en-US" sz="1380" dirty="0"/>
          </a:p>
          <a:p>
            <a:pPr marL="342900" indent="-3429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38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fit when retrieval is the core problem — document Q&amp;A, enterprise search, legal or technical document retrieval</a:t>
            </a:r>
            <a:endParaRPr lang="en-US" sz="1380" dirty="0"/>
          </a:p>
        </p:txBody>
      </p:sp>
      <p:sp>
        <p:nvSpPr>
          <p:cNvPr id="8" name="Shape 6"/>
          <p:cNvSpPr/>
          <p:nvPr/>
        </p:nvSpPr>
        <p:spPr>
          <a:xfrm>
            <a:off x="7269480" y="1600200"/>
            <a:ext cx="4462272" cy="4434840"/>
          </a:xfrm>
          <a:prstGeom prst="roundRect">
            <a:avLst>
              <a:gd name="adj" fmla="val 1649"/>
            </a:avLst>
          </a:prstGeom>
          <a:solidFill>
            <a:srgbClr val="21295C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589520" y="1856232"/>
            <a:ext cx="3822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(Python)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7589520" y="2286000"/>
            <a:ext cx="3822192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9FE6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llama_index.core import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9FE6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VectorStoreIndex,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9FE6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SimpleDirectoryReader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9FE6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docs = SimpleDirectoryReader(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9FE6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"data/").load_data()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9FE6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index = VectorStoreIndex.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9FE6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from_documents(docs)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9FE6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query_engine = index.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9FE6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as_query_engine()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9FE6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query_engine.query(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9FE6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"What is RAG?")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651052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4 of 4 — Building RAG Systems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5330952" y="651052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Databases &amp; RAG — Day 12</a:t>
            </a:r>
            <a:endParaRPr lang="en-US" sz="1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41148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LangChain vs LlamaIndex — Choosing Your Framework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9601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mutually exclusive — many production systems use both together</a:t>
            </a:r>
            <a:endParaRPr lang="en-US" sz="1350" dirty="0"/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508760"/>
          <a:ext cx="11183112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4572000"/>
                <a:gridCol w="3867912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Dimension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LangChain (+ LangGraph)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LlamaIndex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Design philosophy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Start from the workflow — compose models, tools, and memory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Start from your data — ingestion, indexing, retrieval first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suited for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Complex, stateful agents with branching, approval, persistence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RAG-heavy apps — document Q&amp;A, enterprise search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Retrieval features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Broad integrations; retrieval is one of many components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Hierarchical chunking, hybrid search, built-in evaluators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Learning curve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Steeper; documentation spread across LangChain + LangGraph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Lower entry barrier specifically for RAG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Common pattern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 both: LlamaIndex for retrieval, exposed as a tool inside a LangGraph agent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57200" y="651052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4 of 4 — Building RAG Systems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5330952" y="651052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Databases &amp; RAG — Day 12</a:t>
            </a:r>
            <a:endParaRPr lang="en-US" sz="1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3840480" cy="38404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4937760"/>
            <a:ext cx="3291840" cy="329184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45720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Hands-On: RAG Lab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0058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an LLM-enabled notebook and work through all four tasks — I'll circulate and help.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5166360" cy="1874520"/>
          </a:xfrm>
          <a:prstGeom prst="roundRect">
            <a:avLst>
              <a:gd name="adj" fmla="val 2927"/>
            </a:avLst>
          </a:prstGeom>
          <a:solidFill>
            <a:srgbClr val="2A3570"/>
          </a:solidFill>
          <a:ln/>
        </p:spPr>
      </p:sp>
      <p:sp>
        <p:nvSpPr>
          <p:cNvPr id="7" name="Shape 5"/>
          <p:cNvSpPr/>
          <p:nvPr/>
        </p:nvSpPr>
        <p:spPr>
          <a:xfrm>
            <a:off x="822960" y="1947672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19476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1463040" y="1947672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 a Document</a:t>
            </a:r>
            <a:endParaRPr lang="en-US" sz="155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2560320"/>
            <a:ext cx="4617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a sample text file, split it into ~200-word chunks with overlap, and print how many chunks you get.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989320" y="1691640"/>
            <a:ext cx="5166360" cy="1874520"/>
          </a:xfrm>
          <a:prstGeom prst="roundRect">
            <a:avLst>
              <a:gd name="adj" fmla="val 2927"/>
            </a:avLst>
          </a:prstGeom>
          <a:solidFill>
            <a:srgbClr val="2A3570"/>
          </a:solidFill>
          <a:ln/>
        </p:spPr>
      </p:sp>
      <p:sp>
        <p:nvSpPr>
          <p:cNvPr id="12" name="Shape 10"/>
          <p:cNvSpPr/>
          <p:nvPr/>
        </p:nvSpPr>
        <p:spPr>
          <a:xfrm>
            <a:off x="6263640" y="1947672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263640" y="19476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6903720" y="1947672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Mini Index</a:t>
            </a:r>
            <a:endParaRPr lang="en-US" sz="1550" dirty="0"/>
          </a:p>
        </p:txBody>
      </p:sp>
      <p:sp>
        <p:nvSpPr>
          <p:cNvPr id="15" name="Text 13"/>
          <p:cNvSpPr txBox="1"/>
          <p:nvPr/>
        </p:nvSpPr>
        <p:spPr>
          <a:xfrm>
            <a:off x="6263640" y="2560320"/>
            <a:ext cx="4617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 your chunks and load them into ChromaDB. Query it with a question about the document.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3840480"/>
            <a:ext cx="5166360" cy="1874520"/>
          </a:xfrm>
          <a:prstGeom prst="roundRect">
            <a:avLst>
              <a:gd name="adj" fmla="val 2927"/>
            </a:avLst>
          </a:prstGeom>
          <a:solidFill>
            <a:srgbClr val="2A3570"/>
          </a:solidFill>
          <a:ln/>
        </p:spPr>
      </p:sp>
      <p:sp>
        <p:nvSpPr>
          <p:cNvPr id="17" name="Shape 15"/>
          <p:cNvSpPr/>
          <p:nvPr/>
        </p:nvSpPr>
        <p:spPr>
          <a:xfrm>
            <a:off x="822960" y="4096512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22960" y="40965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9" name="Text 17"/>
          <p:cNvSpPr txBox="1"/>
          <p:nvPr/>
        </p:nvSpPr>
        <p:spPr>
          <a:xfrm>
            <a:off x="1463040" y="4096512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Compose a RAG Prompt</a:t>
            </a:r>
            <a:endParaRPr lang="en-US" sz="1550" dirty="0"/>
          </a:p>
        </p:txBody>
      </p:sp>
      <p:sp>
        <p:nvSpPr>
          <p:cNvPr id="20" name="Text 18"/>
          <p:cNvSpPr txBox="1"/>
          <p:nvPr/>
        </p:nvSpPr>
        <p:spPr>
          <a:xfrm>
            <a:off x="822960" y="4709160"/>
            <a:ext cx="4617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the top retrieved chunk and write the full prompt you'd send to an LLM, including instructions to cite the source.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989320" y="3840480"/>
            <a:ext cx="5166360" cy="1874520"/>
          </a:xfrm>
          <a:prstGeom prst="roundRect">
            <a:avLst>
              <a:gd name="adj" fmla="val 2927"/>
            </a:avLst>
          </a:prstGeom>
          <a:solidFill>
            <a:srgbClr val="2A3570"/>
          </a:solidFill>
          <a:ln/>
        </p:spPr>
      </p:sp>
      <p:sp>
        <p:nvSpPr>
          <p:cNvPr id="22" name="Shape 20"/>
          <p:cNvSpPr/>
          <p:nvPr/>
        </p:nvSpPr>
        <p:spPr>
          <a:xfrm>
            <a:off x="6263640" y="4096512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263640" y="40965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24" name="Text 22"/>
          <p:cNvSpPr txBox="1"/>
          <p:nvPr/>
        </p:nvSpPr>
        <p:spPr>
          <a:xfrm>
            <a:off x="6903720" y="4096512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 or LlamaIndex</a:t>
            </a:r>
            <a:endParaRPr lang="en-US" sz="1550" dirty="0"/>
          </a:p>
        </p:txBody>
      </p:sp>
      <p:sp>
        <p:nvSpPr>
          <p:cNvPr id="25" name="Text 23"/>
          <p:cNvSpPr txBox="1"/>
          <p:nvPr/>
        </p:nvSpPr>
        <p:spPr>
          <a:xfrm>
            <a:off x="6263640" y="4709160"/>
            <a:ext cx="4617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Rebuild the same mini pipeline using RetrievalQA (LangChain) or a query engine (LlamaIndex).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548640" y="6007608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solo or in pairs · 30 minutes · ask a neighbor before you ask me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457200" y="651052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4 of 4 — Building RAG Systems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5330952" y="651052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Databases &amp; RAG — Day 12</a:t>
            </a:r>
            <a:endParaRPr lang="en-US" sz="1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41148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Common Pitfalls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9601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mistakes that trip up almost everyone building their first RAG system</a:t>
            </a:r>
            <a:endParaRPr lang="en-US" sz="1350" dirty="0"/>
          </a:p>
        </p:txBody>
      </p:sp>
      <p:graphicFrame>
        <p:nvGraphicFramePr>
          <p:cNvPr id="3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508760"/>
          <a:ext cx="11183112" cy="914400"/>
        </p:xfrm>
        <a:graphic>
          <a:graphicData uri="http://schemas.openxmlformats.org/drawingml/2006/table">
            <a:tbl>
              <a:tblPr/>
              <a:tblGrid>
                <a:gridCol w="4297680"/>
                <a:gridCol w="6885432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Mistake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Fix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Chunks too large or too small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Start around 200–500 words with overlap, then tune based on retrieval quality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Assuming retrieval always finds something relevant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 a similarity threshold, and have the system say “I don't know” when nothing qualifies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citing sources in the answer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Always instruct the LLM to reference which chunk/document each claim came from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Treating the vector DB as a cache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Keep it in sync with the source documents — stale embeddings give stale answers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Ignoring the embedding model mismatch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 the same embedding model for documents and queries — mixing models breaks similarity scores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Skipping evaluation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retrieval and answer quality on real questions before trusting the system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57200" y="651052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4 of 4 — Building RAG Systems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5330952" y="651052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Databases &amp; RAG — Day 12</a:t>
            </a:r>
            <a:endParaRPr lang="en-US" sz="1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41148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9601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five ideas worth carrying out of today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02920" y="1655064"/>
            <a:ext cx="566928" cy="56692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02920" y="165506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1600200"/>
            <a:ext cx="10241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databases search by meaning</a:t>
            </a:r>
            <a:pPr indent="0" marL="0">
              <a:buNone/>
            </a:pPr>
            <a:r>
              <a:rPr lang="en-US" sz="15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</a:t>
            </a:r>
            <a:pPr indent="0" marL="0">
              <a:buNone/>
            </a:pPr>
            <a:r>
              <a:rPr lang="en-US" sz="15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store embeddings and retrieve by similarity, not exact match.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02920" y="2569464"/>
            <a:ext cx="566928" cy="56692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02920" y="256946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1325880" y="2514600"/>
            <a:ext cx="10241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FAISS, Annoy, and ChromaDB each trade off differently</a:t>
            </a:r>
            <a:pPr indent="0" marL="0">
              <a:buNone/>
            </a:pPr>
            <a:r>
              <a:rPr lang="en-US" sz="15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</a:t>
            </a:r>
            <a:pPr indent="0" marL="0">
              <a:buNone/>
            </a:pPr>
            <a:r>
              <a:rPr lang="en-US" sz="15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performance, simplicity, and ease of setup.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02920" y="3483864"/>
            <a:ext cx="566928" cy="56692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02920" y="348386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1325880" y="3429000"/>
            <a:ext cx="10241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grounds an LLM in your own data</a:t>
            </a:r>
            <a:pPr indent="0" marL="0">
              <a:buNone/>
            </a:pPr>
            <a:r>
              <a:rPr lang="en-US" sz="15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</a:t>
            </a:r>
            <a:pPr indent="0" marL="0">
              <a:buNone/>
            </a:pPr>
            <a:r>
              <a:rPr lang="en-US" sz="15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retrieving relevant context before the model generates an answer, without retraining it.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02920" y="4398264"/>
            <a:ext cx="566928" cy="56692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02920" y="439826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1325880" y="4343400"/>
            <a:ext cx="10241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already deployed across real companies</a:t>
            </a:r>
            <a:pPr indent="0" marL="0">
              <a:buNone/>
            </a:pPr>
            <a:r>
              <a:rPr lang="en-US" sz="15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</a:t>
            </a:r>
            <a:pPr indent="0" marL="0">
              <a:buNone/>
            </a:pPr>
            <a:r>
              <a:rPr lang="en-US" sz="15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LinkedIn, DoorDash, Grab, Pinterest, and across regulated industries.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02920" y="5312664"/>
            <a:ext cx="566928" cy="56692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02920" y="531266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200" dirty="0"/>
          </a:p>
        </p:txBody>
      </p:sp>
      <p:sp>
        <p:nvSpPr>
          <p:cNvPr id="18" name="Text 16"/>
          <p:cNvSpPr txBox="1"/>
          <p:nvPr/>
        </p:nvSpPr>
        <p:spPr>
          <a:xfrm>
            <a:off x="1325880" y="5257800"/>
            <a:ext cx="10241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 and LlamaIndex solve different parts of the problem</a:t>
            </a:r>
            <a:pPr indent="0" marL="0">
              <a:buNone/>
            </a:pPr>
            <a:r>
              <a:rPr lang="en-US" sz="15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</a:t>
            </a:r>
            <a:pPr indent="0" marL="0">
              <a:buNone/>
            </a:pPr>
            <a:r>
              <a:rPr lang="en-US" sz="15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orchestration vs. retrieval — and are often used together.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651052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4 of 4 — Building RAG Systems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5330952" y="651052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Databases &amp; RAG — Day 12</a:t>
            </a:r>
            <a:endParaRPr lang="en-US" sz="1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3840480" cy="38404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4937760"/>
            <a:ext cx="3291840" cy="329184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265176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Questions?</a:t>
            </a:r>
            <a:endParaRPr lang="en-US" sz="38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352044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storing vectors to shipping a cited, grounded RAG answer — you now have the full pipeline, end to end.</a:t>
            </a:r>
            <a:endParaRPr lang="en-US" sz="145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411480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hands-on project — building a complete RAG application on a dataset of your choice.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651052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12 complete — Vector Databases &amp; RAG wrapped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5330952" y="651052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Databases &amp; RAG — Day 12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31</Slides>
  <Notes>31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2026-10-12T13:56:24Z</dcterms:created>
  <dcterms:modified xsi:type="dcterms:W3CDTF">2026-10-12T13:56:24Z</dcterms:modified>
</cp:coreProperties>
</file>